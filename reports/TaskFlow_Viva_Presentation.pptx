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5FA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097280"/>
            <a:ext cx="4114800" cy="411480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-457200"/>
            <a:ext cx="2286000" cy="2286000"/>
          </a:xfrm>
          <a:prstGeom prst="ellipse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3200400"/>
            <a:ext cx="2743200" cy="2743200"/>
          </a:xfrm>
          <a:prstGeom prst="ellipse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502920"/>
            <a:ext cx="640080" cy="640080"/>
          </a:xfrm>
          <a:prstGeom prst="ellipse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9224" y="50292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</a:rPr>
              <a:t>◈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371600" y="502920"/>
            <a:ext cx="27432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Task Flow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1325880"/>
            <a:ext cx="731520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</a:rPr>
              <a:t>Task Flow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640080" y="2331720"/>
            <a:ext cx="73152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93C5FD"/>
                </a:solidFill>
              </a:rPr>
              <a:t>Project Management Web Application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40080" y="2971800"/>
            <a:ext cx="3200400" cy="36576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154680"/>
            <a:ext cx="82296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</a:rPr>
              <a:t>Internal Viva Presentation  |  Final Year Project  |  Node.js + PostgreSQL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4389120"/>
            <a:ext cx="2011680" cy="411480"/>
          </a:xfrm>
          <a:prstGeom prst="rect">
            <a:avLst/>
          </a:prstGeom>
          <a:solidFill>
            <a:srgbClr val="4A90E2"/>
          </a:solidFill>
          <a:ln w="12700">
            <a:solidFill>
              <a:srgbClr val="4A90E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4389120"/>
            <a:ext cx="20116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FYP 2024–2025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1D5FA8"/>
          </a:solidFill>
          <a:ln w="12700">
            <a:solidFill>
              <a:srgbClr val="1D5F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365760"/>
            <a:ext cx="24688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Contents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28600" y="1097280"/>
            <a:ext cx="246888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3C5FD"/>
                </a:solidFill>
              </a:rPr>
              <a:t>Overview of</a:t>
            </a:r>
            <a:endParaRPr lang="en-US" sz="1400" dirty="0"/>
          </a:p>
          <a:p>
            <a:pPr marL="0" indent="0">
              <a:buNone/>
            </a:pPr>
            <a:r>
              <a:rPr lang="en-US" sz="1400" i="1" dirty="0">
                <a:solidFill>
                  <a:srgbClr val="93C5FD"/>
                </a:solidFill>
              </a:rPr>
              <a:t>Presentation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28600" y="2286000"/>
            <a:ext cx="256032" cy="256032"/>
          </a:xfrm>
          <a:prstGeom prst="ellipse">
            <a:avLst/>
          </a:prstGeom>
          <a:solidFill>
            <a:srgbClr val="4A90E2"/>
          </a:solidFill>
          <a:ln w="12700">
            <a:solidFill>
              <a:srgbClr val="4A90E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2286000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66928" y="2267712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Project Overview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28600" y="2615184"/>
            <a:ext cx="256032" cy="256032"/>
          </a:xfrm>
          <a:prstGeom prst="ellipse">
            <a:avLst/>
          </a:prstGeom>
          <a:solidFill>
            <a:srgbClr val="4A90E2"/>
          </a:solidFill>
          <a:ln w="12700">
            <a:solidFill>
              <a:srgbClr val="4A90E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" y="2615184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66928" y="2596896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System Architecture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28600" y="2944368"/>
            <a:ext cx="256032" cy="256032"/>
          </a:xfrm>
          <a:prstGeom prst="ellipse">
            <a:avLst/>
          </a:prstGeom>
          <a:solidFill>
            <a:srgbClr val="4A90E2"/>
          </a:solidFill>
          <a:ln w="12700">
            <a:solidFill>
              <a:srgbClr val="4A90E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8600" y="2944368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66928" y="2926080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Key Features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28600" y="3273552"/>
            <a:ext cx="256032" cy="256032"/>
          </a:xfrm>
          <a:prstGeom prst="ellipse">
            <a:avLst/>
          </a:prstGeom>
          <a:solidFill>
            <a:srgbClr val="4A90E2"/>
          </a:solidFill>
          <a:ln w="12700">
            <a:solidFill>
              <a:srgbClr val="4A90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8600" y="3273552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66928" y="3255264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Tech Stack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28600" y="3602736"/>
            <a:ext cx="256032" cy="256032"/>
          </a:xfrm>
          <a:prstGeom prst="ellipse">
            <a:avLst/>
          </a:prstGeom>
          <a:solidFill>
            <a:srgbClr val="4A90E2"/>
          </a:solidFill>
          <a:ln w="12700">
            <a:solidFill>
              <a:srgbClr val="4A90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8600" y="3602736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66928" y="3584448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Database Schema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28600" y="3931920"/>
            <a:ext cx="256032" cy="256032"/>
          </a:xfrm>
          <a:prstGeom prst="ellipse">
            <a:avLst/>
          </a:prstGeom>
          <a:solidFill>
            <a:srgbClr val="4A90E2"/>
          </a:solidFill>
          <a:ln w="12700">
            <a:solidFill>
              <a:srgbClr val="4A90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8600" y="3931920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6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66928" y="3913632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Security &amp; Auth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28600" y="4261104"/>
            <a:ext cx="256032" cy="256032"/>
          </a:xfrm>
          <a:prstGeom prst="ellipse">
            <a:avLst/>
          </a:prstGeom>
          <a:solidFill>
            <a:srgbClr val="4A90E2"/>
          </a:solidFill>
          <a:ln w="12700">
            <a:solidFill>
              <a:srgbClr val="4A90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28600" y="4261104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7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66928" y="4242816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Demo &amp; Screenshots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28600" y="4590288"/>
            <a:ext cx="256032" cy="256032"/>
          </a:xfrm>
          <a:prstGeom prst="ellipse">
            <a:avLst/>
          </a:prstGeom>
          <a:solidFill>
            <a:srgbClr val="4A90E2"/>
          </a:solidFill>
          <a:ln w="12700">
            <a:solidFill>
              <a:srgbClr val="4A90E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28600" y="4590288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8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66928" y="4572000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Conclusion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200400" y="411480"/>
            <a:ext cx="2743200" cy="192024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3200400" y="576072"/>
            <a:ext cx="27432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⚙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3383280" y="1097280"/>
            <a:ext cx="23774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</a:rPr>
              <a:t>Full-Stack Web App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3337560" y="1508760"/>
            <a:ext cx="246888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</a:rPr>
              <a:t>Built with Node.js, Express, PostgreSQL &amp; vanilla JS frontend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217920" y="411480"/>
            <a:ext cx="2743200" cy="192024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217920" y="576072"/>
            <a:ext cx="27432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🔒</a:t>
            </a:r>
            <a:endParaRPr lang="en-US" sz="2400" dirty="0"/>
          </a:p>
        </p:txBody>
      </p:sp>
      <p:sp>
        <p:nvSpPr>
          <p:cNvPr id="35" name="Text 33"/>
          <p:cNvSpPr/>
          <p:nvPr/>
        </p:nvSpPr>
        <p:spPr>
          <a:xfrm>
            <a:off x="6400800" y="1097280"/>
            <a:ext cx="23774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</a:rPr>
              <a:t>Multi-User Auth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355080" y="1508760"/>
            <a:ext cx="246888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</a:rPr>
              <a:t>Session-based authentication with bcrypt password hashing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200400" y="2606040"/>
            <a:ext cx="2743200" cy="192024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3200400" y="2770632"/>
            <a:ext cx="27432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✓</a:t>
            </a:r>
            <a:endParaRPr lang="en-US" sz="2400" dirty="0"/>
          </a:p>
        </p:txBody>
      </p:sp>
      <p:sp>
        <p:nvSpPr>
          <p:cNvPr id="39" name="Text 37"/>
          <p:cNvSpPr/>
          <p:nvPr/>
        </p:nvSpPr>
        <p:spPr>
          <a:xfrm>
            <a:off x="3383280" y="3291840"/>
            <a:ext cx="23774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</a:rPr>
              <a:t>Task Management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3337560" y="3703320"/>
            <a:ext cx="246888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</a:rPr>
              <a:t>Create, edit, filter, complete &amp; restore tasks with due dates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217920" y="2606040"/>
            <a:ext cx="2743200" cy="192024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6217920" y="2770632"/>
            <a:ext cx="27432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43" name="Text 41"/>
          <p:cNvSpPr/>
          <p:nvPr/>
        </p:nvSpPr>
        <p:spPr>
          <a:xfrm>
            <a:off x="6400800" y="3291840"/>
            <a:ext cx="23774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</a:rPr>
              <a:t>Analytics Dashboard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6355080" y="3703320"/>
            <a:ext cx="246888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</a:rPr>
              <a:t>Real-time charts for task completion and priority breakdown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D5FA8"/>
          </a:solidFill>
          <a:ln w="12700">
            <a:solidFill>
              <a:srgbClr val="1D5F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01  Project Overview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84124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88720"/>
            <a:ext cx="64008" cy="1005840"/>
          </a:xfrm>
          <a:prstGeom prst="rect">
            <a:avLst/>
          </a:prstGeom>
          <a:solidFill>
            <a:srgbClr val="4A90E2"/>
          </a:solidFill>
          <a:ln w="12700">
            <a:solidFill>
              <a:srgbClr val="4A90E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207008"/>
            <a:ext cx="80467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90E2"/>
                </a:solidFill>
              </a:rPr>
              <a:t>Problem Statement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554480"/>
            <a:ext cx="80467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Students and professionals lack a simple, personal task management tool. Existing solutions are too complex or require subscriptions. Task Flow provides a lightweight, self-hosted alternative with all essential features.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377440"/>
            <a:ext cx="192024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2377440"/>
            <a:ext cx="1920240" cy="502920"/>
          </a:xfrm>
          <a:prstGeom prst="rect">
            <a:avLst/>
          </a:prstGeom>
          <a:solidFill>
            <a:srgbClr val="4A90E2"/>
          </a:solidFill>
          <a:ln w="12700">
            <a:solidFill>
              <a:srgbClr val="4A90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377440"/>
            <a:ext cx="19202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01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75488" y="2944368"/>
            <a:ext cx="1700784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</a:rPr>
              <a:t>Task CRUD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3429000"/>
            <a:ext cx="1737360" cy="1143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</a:rPr>
              <a:t>Create, read, update and delete tasks with priorities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514600" y="2377440"/>
            <a:ext cx="192024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514600" y="2377440"/>
            <a:ext cx="1920240" cy="502920"/>
          </a:xfrm>
          <a:prstGeom prst="rect">
            <a:avLst/>
          </a:prstGeom>
          <a:solidFill>
            <a:srgbClr val="4A90E2"/>
          </a:solidFill>
          <a:ln w="12700">
            <a:solidFill>
              <a:srgbClr val="4A90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14600" y="2377440"/>
            <a:ext cx="19202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02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2624328" y="2944368"/>
            <a:ext cx="1700784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</a:rPr>
              <a:t>User Auth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606040" y="3429000"/>
            <a:ext cx="1737360" cy="1143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</a:rPr>
              <a:t>Secure multi-user login with session management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63440" y="2377440"/>
            <a:ext cx="192024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63440" y="2377440"/>
            <a:ext cx="1920240" cy="502920"/>
          </a:xfrm>
          <a:prstGeom prst="rect">
            <a:avLst/>
          </a:prstGeom>
          <a:solidFill>
            <a:srgbClr val="4A90E2"/>
          </a:solidFill>
          <a:ln w="12700">
            <a:solidFill>
              <a:srgbClr val="4A90E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2377440"/>
            <a:ext cx="19202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03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4773168" y="2944368"/>
            <a:ext cx="1700784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</a:rPr>
              <a:t>Categories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754880" y="3429000"/>
            <a:ext cx="1737360" cy="1143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</a:rPr>
              <a:t>Custom color-coded categories per user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812280" y="2377440"/>
            <a:ext cx="192024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812280" y="2377440"/>
            <a:ext cx="1920240" cy="502920"/>
          </a:xfrm>
          <a:prstGeom prst="rect">
            <a:avLst/>
          </a:prstGeom>
          <a:solidFill>
            <a:srgbClr val="4A90E2"/>
          </a:solidFill>
          <a:ln w="12700">
            <a:solidFill>
              <a:srgbClr val="4A90E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12280" y="2377440"/>
            <a:ext cx="19202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04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922008" y="2944368"/>
            <a:ext cx="1700784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</a:rPr>
              <a:t>Analytics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03720" y="3429000"/>
            <a:ext cx="1737360" cy="1143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</a:rPr>
              <a:t>Visual statistics and completion tracking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02  System Architecture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71880"/>
            <a:ext cx="8412480" cy="1024128"/>
          </a:xfrm>
          <a:prstGeom prst="rect">
            <a:avLst/>
          </a:prstGeom>
          <a:solidFill>
            <a:srgbClr val="F0F5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69975"/>
            <a:ext cx="64008" cy="1024128"/>
          </a:xfrm>
          <a:prstGeom prst="rect">
            <a:avLst/>
          </a:prstGeom>
          <a:solidFill>
            <a:srgbClr val="4A90E2"/>
          </a:solidFill>
          <a:ln w="12700">
            <a:solidFill>
              <a:srgbClr val="4A90E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243584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</a:rPr>
              <a:t>Frontend Layer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645920"/>
            <a:ext cx="8046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HTML5 • CSS3 • Vanilla JS  |  Font Awesome Icons  |  Chart.js (Statistics)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255520"/>
            <a:ext cx="8412480" cy="1024128"/>
          </a:xfrm>
          <a:prstGeom prst="rect">
            <a:avLst/>
          </a:prstGeom>
          <a:solidFill>
            <a:srgbClr val="F0F5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2241550"/>
            <a:ext cx="64008" cy="1024128"/>
          </a:xfrm>
          <a:prstGeom prst="rect">
            <a:avLst/>
          </a:prstGeom>
          <a:solidFill>
            <a:srgbClr val="1D5FA8"/>
          </a:solidFill>
          <a:ln w="12700">
            <a:solidFill>
              <a:srgbClr val="1D5F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478024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</a:rPr>
              <a:t>Backend Layer (Node.js)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2880360"/>
            <a:ext cx="8046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Express.js 5  |  express-session  |  bcryptjs  |  express-rate-limit  |  CORS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3406140"/>
            <a:ext cx="8412480" cy="906780"/>
          </a:xfrm>
          <a:prstGeom prst="rect">
            <a:avLst/>
          </a:prstGeom>
          <a:solidFill>
            <a:srgbClr val="F0F5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53695" y="3420110"/>
            <a:ext cx="76200" cy="873125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433064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</a:rPr>
              <a:t>Data Layer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" y="3835400"/>
            <a:ext cx="8046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PostgreSQL  |  pg (node-postgres)  |  UUID primary keys  |  Cascading deletes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61340" y="365633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90E2"/>
                </a:solidFill>
              </a:rPr>
              <a:t>Request / Response Flow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0040" y="4370832"/>
            <a:ext cx="1234440" cy="457200"/>
          </a:xfrm>
          <a:prstGeom prst="rect">
            <a:avLst/>
          </a:prstGeom>
          <a:solidFill>
            <a:srgbClr val="4A90E2"/>
          </a:solidFill>
          <a:ln w="12700">
            <a:solidFill>
              <a:srgbClr val="4A90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4370832"/>
            <a:ext cx="12344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Browser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572768" y="4370832"/>
            <a:ext cx="1828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</a:rPr>
              <a:t>→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783080" y="4370832"/>
            <a:ext cx="1234440" cy="457200"/>
          </a:xfrm>
          <a:prstGeom prst="rect">
            <a:avLst/>
          </a:prstGeom>
          <a:solidFill>
            <a:srgbClr val="1D5FA8"/>
          </a:solidFill>
          <a:ln w="12700">
            <a:solidFill>
              <a:srgbClr val="1D5FA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783080" y="4370832"/>
            <a:ext cx="12344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Express Router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035808" y="4370832"/>
            <a:ext cx="1828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</a:rPr>
              <a:t>→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246120" y="4370832"/>
            <a:ext cx="123444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46120" y="4370832"/>
            <a:ext cx="12344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Auth Middleware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498848" y="4370832"/>
            <a:ext cx="1828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</a:rPr>
              <a:t>→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709160" y="4370832"/>
            <a:ext cx="1234440" cy="457200"/>
          </a:xfrm>
          <a:prstGeom prst="rect">
            <a:avLst/>
          </a:prstGeom>
          <a:solidFill>
            <a:srgbClr val="4A90E2"/>
          </a:solidFill>
          <a:ln w="12700">
            <a:solidFill>
              <a:srgbClr val="4A90E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09160" y="4370832"/>
            <a:ext cx="12344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Route Handler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961888" y="4370832"/>
            <a:ext cx="1828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</a:rPr>
              <a:t>→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172200" y="4370832"/>
            <a:ext cx="1234440" cy="457200"/>
          </a:xfrm>
          <a:prstGeom prst="rect">
            <a:avLst/>
          </a:prstGeom>
          <a:solidFill>
            <a:srgbClr val="1D5FA8"/>
          </a:solidFill>
          <a:ln w="12700">
            <a:solidFill>
              <a:srgbClr val="1D5FA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72200" y="4370832"/>
            <a:ext cx="12344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pg Pool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424928" y="4370832"/>
            <a:ext cx="1828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</a:rPr>
              <a:t>→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7635240" y="4370832"/>
            <a:ext cx="123444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635240" y="4370832"/>
            <a:ext cx="12344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PostgreSQL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4A90E2"/>
          </a:solidFill>
          <a:ln w="12700">
            <a:solidFill>
              <a:srgbClr val="4A90E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03  Key Features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26974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97280"/>
            <a:ext cx="2697480" cy="457200"/>
          </a:xfrm>
          <a:prstGeom prst="rect">
            <a:avLst/>
          </a:prstGeom>
          <a:solidFill>
            <a:srgbClr val="4A90E2"/>
          </a:solidFill>
          <a:ln w="12700">
            <a:solidFill>
              <a:srgbClr val="4A90E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97280"/>
            <a:ext cx="2514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✓  Task Management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1600200"/>
            <a:ext cx="2514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</a:rPr>
              <a:t>Add / Edit / Delete tasks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1901952"/>
            <a:ext cx="2514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</a:rPr>
              <a:t>Priority: High, Medium, Low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2203704"/>
            <a:ext cx="2514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</a:rPr>
              <a:t>Due date tracking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2505456"/>
            <a:ext cx="2514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</a:rPr>
              <a:t>Overdue detection &amp; highlights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46120" y="1097280"/>
            <a:ext cx="26974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46120" y="1097280"/>
            <a:ext cx="2697480" cy="457200"/>
          </a:xfrm>
          <a:prstGeom prst="rect">
            <a:avLst/>
          </a:prstGeom>
          <a:solidFill>
            <a:srgbClr val="4A90E2"/>
          </a:solidFill>
          <a:ln w="12700">
            <a:solidFill>
              <a:srgbClr val="4A90E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37560" y="1097280"/>
            <a:ext cx="2514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🏷  Custom Categories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37560" y="1600200"/>
            <a:ext cx="2514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</a:rPr>
              <a:t>Color-coded user categories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337560" y="1901952"/>
            <a:ext cx="2514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</a:rPr>
              <a:t>Default seeding (Work, Personal…)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337560" y="2203704"/>
            <a:ext cx="2514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</a:rPr>
              <a:t>Filter tasks by category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337560" y="2505456"/>
            <a:ext cx="2514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</a:rPr>
              <a:t>Sidebar quick navigation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172200" y="1097280"/>
            <a:ext cx="26974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72200" y="1097280"/>
            <a:ext cx="2697480" cy="457200"/>
          </a:xfrm>
          <a:prstGeom prst="rect">
            <a:avLst/>
          </a:prstGeom>
          <a:solidFill>
            <a:srgbClr val="1D5FA8"/>
          </a:solidFill>
          <a:ln w="12700">
            <a:solidFill>
              <a:srgbClr val="1D5FA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63640" y="1097280"/>
            <a:ext cx="2514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📊  Statistics &amp; Charts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263640" y="1600200"/>
            <a:ext cx="2514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</a:rPr>
              <a:t>Bar chart: priority distribution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263640" y="1901952"/>
            <a:ext cx="2514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</a:rPr>
              <a:t>Doughnut: task status split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263640" y="2203704"/>
            <a:ext cx="2514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</a:rPr>
              <a:t>Completion rate calculation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263640" y="2505456"/>
            <a:ext cx="2514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</a:rPr>
              <a:t>Priority breakdown table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0040" y="3017520"/>
            <a:ext cx="26974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" y="3017520"/>
            <a:ext cx="2697480" cy="457200"/>
          </a:xfrm>
          <a:prstGeom prst="rect">
            <a:avLst/>
          </a:prstGeom>
          <a:solidFill>
            <a:srgbClr val="1D5FA8"/>
          </a:solidFill>
          <a:ln w="12700">
            <a:solidFill>
              <a:srgbClr val="1D5FA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3017520"/>
            <a:ext cx="2514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🔒  Authentication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11480" y="3520440"/>
            <a:ext cx="2514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</a:rPr>
              <a:t>Signup / Login / Logout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11480" y="3822192"/>
            <a:ext cx="2514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</a:rPr>
              <a:t>Session cookies (24h)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11480" y="4123944"/>
            <a:ext cx="2514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</a:rPr>
              <a:t>Forgot password flow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11480" y="4425696"/>
            <a:ext cx="2514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</a:rPr>
              <a:t>Rate limiting on auth routes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246120" y="3017520"/>
            <a:ext cx="26974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246120" y="3017520"/>
            <a:ext cx="269748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337560" y="3017520"/>
            <a:ext cx="2514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📋  Dashboard Views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337560" y="3520440"/>
            <a:ext cx="2514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</a:rPr>
              <a:t>All pending tasks view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337560" y="3822192"/>
            <a:ext cx="2514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</a:rPr>
              <a:t>Completed tasks view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337560" y="4123944"/>
            <a:ext cx="2514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</a:rPr>
              <a:t>Search &amp; filter controls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337560" y="4425696"/>
            <a:ext cx="2514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</a:rPr>
              <a:t>Mobile-responsive sidebar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172200" y="3017520"/>
            <a:ext cx="26974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172200" y="3017520"/>
            <a:ext cx="269748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63640" y="3017520"/>
            <a:ext cx="2514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⚙  Backend API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263640" y="3520440"/>
            <a:ext cx="2514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</a:rPr>
              <a:t>RESTful Express.js routes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263640" y="3822192"/>
            <a:ext cx="2514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</a:rPr>
              <a:t>PostgreSQL with UUID keys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263640" y="4123944"/>
            <a:ext cx="2514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</a:rPr>
              <a:t>Cascading deletes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263640" y="4425696"/>
            <a:ext cx="2514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</a:rPr>
              <a:t>CORS + trust proxy config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04  Technology Stack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8412480" cy="566928"/>
          </a:xfrm>
          <a:prstGeom prst="rect">
            <a:avLst/>
          </a:prstGeom>
          <a:solidFill>
            <a:srgbClr val="F0F5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43000"/>
            <a:ext cx="64008" cy="56692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143000"/>
            <a:ext cx="137160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4A3B8"/>
                </a:solidFill>
              </a:rPr>
              <a:t>Runtime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920240" y="1143000"/>
            <a:ext cx="201168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</a:rPr>
              <a:t>Node.js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977640" y="1143000"/>
            <a:ext cx="470916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v18+ — JavaScript server-side runtime powering the entire backend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1783080"/>
            <a:ext cx="84124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783080"/>
            <a:ext cx="64008" cy="566928"/>
          </a:xfrm>
          <a:prstGeom prst="rect">
            <a:avLst/>
          </a:prstGeom>
          <a:solidFill>
            <a:srgbClr val="4A90E2"/>
          </a:solidFill>
          <a:ln w="12700">
            <a:solidFill>
              <a:srgbClr val="4A90E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783080"/>
            <a:ext cx="137160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4A3B8"/>
                </a:solidFill>
              </a:rPr>
              <a:t>Framework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920240" y="1783080"/>
            <a:ext cx="201168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90E2"/>
                </a:solidFill>
              </a:rPr>
              <a:t>Express.js 5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977640" y="1783080"/>
            <a:ext cx="470916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Minimalist HTTP framework; routing, middleware pipeline, static file serving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423160"/>
            <a:ext cx="8412480" cy="566928"/>
          </a:xfrm>
          <a:prstGeom prst="rect">
            <a:avLst/>
          </a:prstGeom>
          <a:solidFill>
            <a:srgbClr val="F0F5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2423160"/>
            <a:ext cx="64008" cy="566928"/>
          </a:xfrm>
          <a:prstGeom prst="rect">
            <a:avLst/>
          </a:prstGeom>
          <a:solidFill>
            <a:srgbClr val="1D5FA8"/>
          </a:solidFill>
          <a:ln w="12700">
            <a:solidFill>
              <a:srgbClr val="1D5FA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2423160"/>
            <a:ext cx="137160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4A3B8"/>
                </a:solidFill>
              </a:rPr>
              <a:t>Database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920240" y="2423160"/>
            <a:ext cx="201168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5FA8"/>
                </a:solidFill>
              </a:rPr>
              <a:t>PostgreSQL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977640" y="2423160"/>
            <a:ext cx="470916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Relational DB; UUID PKs, TIMESTAMPTZ, CHECK constraints, indexes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3063240"/>
            <a:ext cx="84124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3063240"/>
            <a:ext cx="64008" cy="5669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063240"/>
            <a:ext cx="137160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4A3B8"/>
                </a:solidFill>
              </a:rPr>
              <a:t>ORM / Driver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920240" y="3063240"/>
            <a:ext cx="201168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</a:rPr>
              <a:t>node-postgres (pg)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977640" y="3063240"/>
            <a:ext cx="470916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Pool-based async query interface; parameterised queries for SQL injection prevention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3703320"/>
            <a:ext cx="8412480" cy="566928"/>
          </a:xfrm>
          <a:prstGeom prst="rect">
            <a:avLst/>
          </a:prstGeom>
          <a:solidFill>
            <a:srgbClr val="F0F5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" y="3703320"/>
            <a:ext cx="64008" cy="5669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3703320"/>
            <a:ext cx="137160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4A3B8"/>
                </a:solidFill>
              </a:rPr>
              <a:t>Auth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920240" y="3703320"/>
            <a:ext cx="201168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</a:rPr>
              <a:t>bcryptjs + express-session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977640" y="3703320"/>
            <a:ext cx="470916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Salted password hashing (cost 10); server-side session cookies; httpOnly + sameSite:strict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65760" y="4343400"/>
            <a:ext cx="84124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" y="4343400"/>
            <a:ext cx="64008" cy="56692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4343400"/>
            <a:ext cx="137160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4A3B8"/>
                </a:solidFill>
              </a:rPr>
              <a:t>Frontend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920240" y="4343400"/>
            <a:ext cx="201168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5CF6"/>
                </a:solidFill>
              </a:rPr>
              <a:t>Vanilla JS + Chart.js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977640" y="4343400"/>
            <a:ext cx="470916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No framework — plain HTML/CSS/JS; Chart.js 4 for bar and doughnut charts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65760" y="4846320"/>
            <a:ext cx="8412480" cy="18288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2920" y="48463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90E2"/>
                </a:solidFill>
              </a:rPr>
              <a:t>Why Node.js?  Non-blocking I/O suits concurrent API requests  •  Single language (JS) across full stack  •  Rich npm ecosystem  •  Easy Railway deployment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4A90E2"/>
          </a:solidFill>
          <a:ln w="12700">
            <a:solidFill>
              <a:srgbClr val="4A90E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05  Database Schema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2606040" cy="457200"/>
          </a:xfrm>
          <a:prstGeom prst="rect">
            <a:avLst/>
          </a:prstGeom>
          <a:solidFill>
            <a:srgbClr val="1D5FA8"/>
          </a:solidFill>
          <a:ln w="12700">
            <a:solidFill>
              <a:srgbClr val="1D5FA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097280"/>
            <a:ext cx="24231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📋  users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554480"/>
            <a:ext cx="260604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554480"/>
            <a:ext cx="54864" cy="31089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" y="1554480"/>
            <a:ext cx="246888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9E0B"/>
                </a:solidFill>
              </a:rPr>
              <a:t>id UUID PK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" y="1865376"/>
            <a:ext cx="2606040" cy="310896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9768" y="1865376"/>
            <a:ext cx="246888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name TEXT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0040" y="2176272"/>
            <a:ext cx="260604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9768" y="2176272"/>
            <a:ext cx="246888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email TEXT UNIQUE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0040" y="2487168"/>
            <a:ext cx="2606040" cy="310896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9768" y="2487168"/>
            <a:ext cx="246888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password_hash TEXT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20040" y="2798064"/>
            <a:ext cx="260604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9768" y="2798064"/>
            <a:ext cx="246888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created_at TIMESTAMPTZ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46120" y="1097280"/>
            <a:ext cx="2606040" cy="457200"/>
          </a:xfrm>
          <a:prstGeom prst="rect">
            <a:avLst/>
          </a:prstGeom>
          <a:solidFill>
            <a:srgbClr val="1D5FA8"/>
          </a:solidFill>
          <a:ln w="12700">
            <a:solidFill>
              <a:srgbClr val="1D5FA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37560" y="1097280"/>
            <a:ext cx="24231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📋  categories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246120" y="1554480"/>
            <a:ext cx="260604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46120" y="1554480"/>
            <a:ext cx="54864" cy="31089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55848" y="1554480"/>
            <a:ext cx="246888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9E0B"/>
                </a:solidFill>
              </a:rPr>
              <a:t>id UUID PK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46120" y="1865376"/>
            <a:ext cx="2606040" cy="310896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46120" y="1865376"/>
            <a:ext cx="54864" cy="310896"/>
          </a:xfrm>
          <a:prstGeom prst="rect">
            <a:avLst/>
          </a:prstGeom>
          <a:solidFill>
            <a:srgbClr val="4A90E2"/>
          </a:solidFill>
          <a:ln w="12700">
            <a:solidFill>
              <a:srgbClr val="4A90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55848" y="1865376"/>
            <a:ext cx="246888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A90E2"/>
                </a:solidFill>
              </a:rPr>
              <a:t>user_id UUID FK→users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246120" y="2176272"/>
            <a:ext cx="260604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55848" y="2176272"/>
            <a:ext cx="246888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name TEXT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246120" y="2487168"/>
            <a:ext cx="2606040" cy="310896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55848" y="2487168"/>
            <a:ext cx="246888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color TEXT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246120" y="2798064"/>
            <a:ext cx="260604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55848" y="2798064"/>
            <a:ext cx="246888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created_at TIMESTAMPTZ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172200" y="1097280"/>
            <a:ext cx="2606040" cy="457200"/>
          </a:xfrm>
          <a:prstGeom prst="rect">
            <a:avLst/>
          </a:prstGeom>
          <a:solidFill>
            <a:srgbClr val="1D5FA8"/>
          </a:solidFill>
          <a:ln w="12700">
            <a:solidFill>
              <a:srgbClr val="1D5FA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63640" y="1097280"/>
            <a:ext cx="24231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📋  tasks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172200" y="1554480"/>
            <a:ext cx="260604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172200" y="1554480"/>
            <a:ext cx="54864" cy="31089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81928" y="1554480"/>
            <a:ext cx="246888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9E0B"/>
                </a:solidFill>
              </a:rPr>
              <a:t>id UUID PK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172200" y="1865376"/>
            <a:ext cx="2606040" cy="310896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172200" y="1865376"/>
            <a:ext cx="54864" cy="310896"/>
          </a:xfrm>
          <a:prstGeom prst="rect">
            <a:avLst/>
          </a:prstGeom>
          <a:solidFill>
            <a:srgbClr val="4A90E2"/>
          </a:solidFill>
          <a:ln w="12700">
            <a:solidFill>
              <a:srgbClr val="4A90E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81928" y="1865376"/>
            <a:ext cx="246888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A90E2"/>
                </a:solidFill>
              </a:rPr>
              <a:t>user_id UUID FK→users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172200" y="2176272"/>
            <a:ext cx="260604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172200" y="2176272"/>
            <a:ext cx="54864" cy="310896"/>
          </a:xfrm>
          <a:prstGeom prst="rect">
            <a:avLst/>
          </a:prstGeom>
          <a:solidFill>
            <a:srgbClr val="4A90E2"/>
          </a:solidFill>
          <a:ln w="12700">
            <a:solidFill>
              <a:srgbClr val="4A90E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81928" y="2176272"/>
            <a:ext cx="246888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A90E2"/>
                </a:solidFill>
              </a:rPr>
              <a:t>category_id UUID FK→categories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172200" y="2487168"/>
            <a:ext cx="2606040" cy="310896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281928" y="2487168"/>
            <a:ext cx="246888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title TEXT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172200" y="2798064"/>
            <a:ext cx="260604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281928" y="2798064"/>
            <a:ext cx="246888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description TEXT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172200" y="3108960"/>
            <a:ext cx="2606040" cy="310896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281928" y="3108960"/>
            <a:ext cx="246888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due_date DATE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6172200" y="3419856"/>
            <a:ext cx="260604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281928" y="3419856"/>
            <a:ext cx="246888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priority CHECK('high','medium','low')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172200" y="3730752"/>
            <a:ext cx="2606040" cy="310896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281928" y="3730752"/>
            <a:ext cx="246888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status CHECK('pending','complete')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6172200" y="4041648"/>
            <a:ext cx="260604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281928" y="4041648"/>
            <a:ext cx="246888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created_at / completed_at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320040" y="4709160"/>
            <a:ext cx="228600" cy="1645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94360" y="4681728"/>
            <a:ext cx="13716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Primary Key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2103120" y="4709160"/>
            <a:ext cx="228600" cy="164592"/>
          </a:xfrm>
          <a:prstGeom prst="rect">
            <a:avLst/>
          </a:prstGeom>
          <a:solidFill>
            <a:srgbClr val="4A90E2"/>
          </a:solidFill>
          <a:ln w="12700">
            <a:solidFill>
              <a:srgbClr val="4A90E2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377440" y="4681728"/>
            <a:ext cx="45720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Foreign Key (ON DELETE CASCADE / SET NULL)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06  Security &amp; Authentication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143000"/>
            <a:ext cx="3977640" cy="1115568"/>
          </a:xfrm>
          <a:prstGeom prst="rect">
            <a:avLst/>
          </a:prstGeom>
          <a:solidFill>
            <a:srgbClr val="F0F5FB"/>
          </a:solidFill>
          <a:ln w="12700">
            <a:solidFill>
              <a:srgbClr val="E2E8F0"/>
            </a:solidFill>
            <a:prstDash val="solid"/>
          </a:ln>
          <a:effectLst>
            <a:outerShdw blurRad="762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25880"/>
            <a:ext cx="502920" cy="50292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2588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🔑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69848" y="123444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4444"/>
                </a:solidFill>
              </a:rPr>
              <a:t>Password Hashing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69848" y="1581912"/>
            <a:ext cx="31089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bcryptjs with cost factor 10 — passwords are never stored in plaintext. Even database compromise cannot reveal user passwords.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663440" y="1143000"/>
            <a:ext cx="3977640" cy="1115568"/>
          </a:xfrm>
          <a:prstGeom prst="rect">
            <a:avLst/>
          </a:prstGeom>
          <a:solidFill>
            <a:srgbClr val="F0F5FB"/>
          </a:solidFill>
          <a:ln w="12700">
            <a:solidFill>
              <a:srgbClr val="E2E8F0"/>
            </a:solidFill>
            <a:prstDash val="solid"/>
          </a:ln>
          <a:effectLst>
            <a:outerShdw blurRad="762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00600" y="1325880"/>
            <a:ext cx="502920" cy="502920"/>
          </a:xfrm>
          <a:prstGeom prst="ellipse">
            <a:avLst/>
          </a:prstGeom>
          <a:solidFill>
            <a:srgbClr val="4A90E2"/>
          </a:solidFill>
          <a:ln w="12700">
            <a:solidFill>
              <a:srgbClr val="4A90E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132588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🍪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413248" y="123444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90E2"/>
                </a:solidFill>
              </a:rPr>
              <a:t>Session Cookies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13248" y="1581912"/>
            <a:ext cx="31089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express-session with httpOnly, sameSite: strict, secure (production). 24-hour expiry. Session destroyed on logout.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2404872"/>
            <a:ext cx="3977640" cy="1115568"/>
          </a:xfrm>
          <a:prstGeom prst="rect">
            <a:avLst/>
          </a:prstGeom>
          <a:solidFill>
            <a:srgbClr val="F0F5FB"/>
          </a:solidFill>
          <a:ln w="12700">
            <a:solidFill>
              <a:srgbClr val="E2E8F0"/>
            </a:solidFill>
            <a:prstDash val="solid"/>
          </a:ln>
          <a:effectLst>
            <a:outerShdw blurRad="762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587752"/>
            <a:ext cx="502920" cy="502920"/>
          </a:xfrm>
          <a:prstGeom prst="ellipse">
            <a:avLst/>
          </a:prstGeom>
          <a:solidFill>
            <a:srgbClr val="1D5FA8"/>
          </a:solidFill>
          <a:ln w="12700">
            <a:solidFill>
              <a:srgbClr val="1D5FA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587752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🛡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69848" y="2496312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5FA8"/>
                </a:solidFill>
              </a:rPr>
              <a:t>Auth Middleware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69848" y="2843784"/>
            <a:ext cx="31089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requireAuth middleware guards every API route. Unauthenticated requests receive 401 JSON. Frontend redirects to login automatically.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63440" y="2404872"/>
            <a:ext cx="3977640" cy="1115568"/>
          </a:xfrm>
          <a:prstGeom prst="rect">
            <a:avLst/>
          </a:prstGeom>
          <a:solidFill>
            <a:srgbClr val="F0F5FB"/>
          </a:solidFill>
          <a:ln w="12700">
            <a:solidFill>
              <a:srgbClr val="E2E8F0"/>
            </a:solidFill>
            <a:prstDash val="solid"/>
          </a:ln>
          <a:effectLst>
            <a:outerShdw blurRad="762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00600" y="2587752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2587752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⏱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413248" y="2496312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</a:rPr>
              <a:t>Rate Limiting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13248" y="2843784"/>
            <a:ext cx="31089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express-rate-limit on /auth/* routes: 200 req/15 min (dev) and 40 req/15 min (production). Separate limits for forgot-password flow.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" y="3666744"/>
            <a:ext cx="3977640" cy="1115568"/>
          </a:xfrm>
          <a:prstGeom prst="rect">
            <a:avLst/>
          </a:prstGeom>
          <a:solidFill>
            <a:srgbClr val="F0F5FB"/>
          </a:solidFill>
          <a:ln w="12700">
            <a:solidFill>
              <a:srgbClr val="E2E8F0"/>
            </a:solidFill>
            <a:prstDash val="solid"/>
          </a:ln>
          <a:effectLst>
            <a:outerShdw blurRad="762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" y="3849624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3849624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🔐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069848" y="3758184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</a:rPr>
              <a:t>SQL Injection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69848" y="4105656"/>
            <a:ext cx="31089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All DB queries use parameterised statements via node-postgres ($1, $2…). No string concatenation in SQL. User data is escaped before rendering.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663440" y="3666744"/>
            <a:ext cx="3977640" cy="1115568"/>
          </a:xfrm>
          <a:prstGeom prst="rect">
            <a:avLst/>
          </a:prstGeom>
          <a:solidFill>
            <a:srgbClr val="F0F5FB"/>
          </a:solidFill>
          <a:ln w="12700">
            <a:solidFill>
              <a:srgbClr val="E2E8F0"/>
            </a:solidFill>
            <a:prstDash val="solid"/>
          </a:ln>
          <a:effectLst>
            <a:outerShdw blurRad="762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00600" y="3849624"/>
            <a:ext cx="502920" cy="50292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00600" y="3849624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🌐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413248" y="3758184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5CF6"/>
                </a:solidFill>
              </a:rPr>
              <a:t>CORS Policy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413248" y="4105656"/>
            <a:ext cx="31089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Explicit origin whitelist. Private LAN IPs allowed in development. Credentialed requests reflect origin. No wildcard origin in production.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4A90E2"/>
          </a:solidFill>
          <a:ln w="12700">
            <a:solidFill>
              <a:srgbClr val="4A90E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07  REST API Endpoints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42062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161288"/>
            <a:ext cx="685800" cy="42062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161288"/>
            <a:ext cx="68580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POST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69848" y="1097280"/>
            <a:ext cx="18288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/api/auth/signup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926080" y="1097280"/>
            <a:ext cx="15087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Register new account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" y="1728216"/>
            <a:ext cx="4206240" cy="54864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1792224"/>
            <a:ext cx="685800" cy="42062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792224"/>
            <a:ext cx="68580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POST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69848" y="1728216"/>
            <a:ext cx="18288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/api/auth/login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926080" y="1728216"/>
            <a:ext cx="15087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Authenticate &amp; create session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0040" y="2359152"/>
            <a:ext cx="42062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2423160"/>
            <a:ext cx="685800" cy="42062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2423160"/>
            <a:ext cx="68580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POST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69848" y="2359152"/>
            <a:ext cx="18288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/api/auth/logout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926080" y="2359152"/>
            <a:ext cx="15087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Destroy session &amp; clear cookie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20040" y="2990088"/>
            <a:ext cx="4206240" cy="54864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" y="3054096"/>
            <a:ext cx="685800" cy="42062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3054096"/>
            <a:ext cx="68580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GET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69848" y="2990088"/>
            <a:ext cx="18288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/api/auth/me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926080" y="2990088"/>
            <a:ext cx="15087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Return current session user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20040" y="3621024"/>
            <a:ext cx="42062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" y="3685032"/>
            <a:ext cx="685800" cy="42062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3685032"/>
            <a:ext cx="68580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GET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69848" y="3621024"/>
            <a:ext cx="18288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/api/tasks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926080" y="3621024"/>
            <a:ext cx="15087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List all tasks for logged-in user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20040" y="4251960"/>
            <a:ext cx="4206240" cy="54864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0040" y="4315968"/>
            <a:ext cx="685800" cy="42062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0040" y="4315968"/>
            <a:ext cx="68580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POST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69848" y="4251960"/>
            <a:ext cx="18288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/api/tasks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926080" y="4251960"/>
            <a:ext cx="15087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Create a new task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709160" y="1097280"/>
            <a:ext cx="42062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709160" y="1161288"/>
            <a:ext cx="685800" cy="42062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09160" y="1161288"/>
            <a:ext cx="68580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PUT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458968" y="1097280"/>
            <a:ext cx="18288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/api/tasks/:id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315200" y="1097280"/>
            <a:ext cx="15087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Update task fields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709160" y="1728216"/>
            <a:ext cx="4206240" cy="54864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709160" y="1792224"/>
            <a:ext cx="685800" cy="42062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09160" y="1792224"/>
            <a:ext cx="68580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PATCH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458968" y="1728216"/>
            <a:ext cx="18288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/api/tasks/:id/status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7315200" y="1728216"/>
            <a:ext cx="15087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Toggle pending / complete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709160" y="2359152"/>
            <a:ext cx="42062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709160" y="2423160"/>
            <a:ext cx="685800" cy="42062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709160" y="2423160"/>
            <a:ext cx="68580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DELETE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5458968" y="2359152"/>
            <a:ext cx="18288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/api/tasks/:id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7315200" y="2359152"/>
            <a:ext cx="15087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Delete a task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709160" y="2990088"/>
            <a:ext cx="4206240" cy="54864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709160" y="3054096"/>
            <a:ext cx="685800" cy="42062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709160" y="3054096"/>
            <a:ext cx="68580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GET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5458968" y="2990088"/>
            <a:ext cx="18288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/api/categories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7315200" y="2990088"/>
            <a:ext cx="15087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List categories (seeds defaults)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4709160" y="3621024"/>
            <a:ext cx="42062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709160" y="3685032"/>
            <a:ext cx="685800" cy="42062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709160" y="3685032"/>
            <a:ext cx="68580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POST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5458968" y="3621024"/>
            <a:ext cx="18288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/api/categories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7315200" y="3621024"/>
            <a:ext cx="15087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Create a category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4709160" y="4251960"/>
            <a:ext cx="4206240" cy="54864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09160" y="4315968"/>
            <a:ext cx="685800" cy="42062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709160" y="4315968"/>
            <a:ext cx="68580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DELETE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5458968" y="4251960"/>
            <a:ext cx="18288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/api/categories/:id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7315200" y="4251960"/>
            <a:ext cx="15087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Delete a category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08  Deployment &amp; Configuration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3931920" cy="3749040"/>
          </a:xfrm>
          <a:prstGeom prst="rect">
            <a:avLst/>
          </a:prstGeom>
          <a:solidFill>
            <a:srgbClr val="F0F5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70432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90E2"/>
                </a:solidFill>
              </a:rPr>
              <a:t>Local Development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600200"/>
            <a:ext cx="365760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1.  Clone repository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1929384"/>
            <a:ext cx="365760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2.  cd server &amp;&amp; npm install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2258568"/>
            <a:ext cx="365760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3.  Create server/.env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7200" y="2587752"/>
            <a:ext cx="365760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948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DATABASE_URL=postgresql://…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2916936"/>
            <a:ext cx="365760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948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SESSION_SECRET=random-string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3246120"/>
            <a:ext cx="365760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4.  Create DB in pgAdmin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7200" y="3575304"/>
            <a:ext cx="365760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5.  npm run db:migrate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7200" y="3904488"/>
            <a:ext cx="365760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6.  npm start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57200" y="4233672"/>
            <a:ext cx="365760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7.  Open http://localhost:3000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0" y="1097280"/>
            <a:ext cx="4251960" cy="3749040"/>
          </a:xfrm>
          <a:prstGeom prst="rect">
            <a:avLst/>
          </a:prstGeom>
          <a:solidFill>
            <a:srgbClr val="F0F5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09160" y="1170432"/>
            <a:ext cx="39319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90E2"/>
                </a:solidFill>
              </a:rPr>
              <a:t>Production (Railway)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709160" y="1627632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75569"/>
                </a:solidFill>
              </a:rPr>
              <a:t>Platform: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199632" y="1627632"/>
            <a:ext cx="2487168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Railway.app (PaaS)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709160" y="1975104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75569"/>
                </a:solidFill>
              </a:rPr>
              <a:t>DATABASE_URL: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199632" y="1975104"/>
            <a:ext cx="2487168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Railway PostgreSQL service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709160" y="2322576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75569"/>
                </a:solidFill>
              </a:rPr>
              <a:t>SESSION_SECRET: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199632" y="2322576"/>
            <a:ext cx="2487168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Set in Railway env vars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709160" y="2670048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75569"/>
                </a:solidFill>
              </a:rPr>
              <a:t>NODE_ENV: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199632" y="2670048"/>
            <a:ext cx="2487168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production (enables secure cookies)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709160" y="3017520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75569"/>
                </a:solidFill>
              </a:rPr>
              <a:t>Trust Proxy: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199632" y="3017520"/>
            <a:ext cx="2487168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app.set('trust proxy', 1)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709160" y="3364992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75569"/>
                </a:solidFill>
              </a:rPr>
              <a:t>SSL: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199632" y="3364992"/>
            <a:ext cx="2487168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Auto-detected from connection string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709160" y="3712464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75569"/>
                </a:solidFill>
              </a:rPr>
              <a:t>CORS_ORIGINS: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199632" y="3712464"/>
            <a:ext cx="2487168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Comma-separated extra origins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709160" y="4059936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75569"/>
                </a:solidFill>
              </a:rPr>
              <a:t>Port: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199632" y="4059936"/>
            <a:ext cx="2487168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process.env.PORT (Railway assigns)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4A90E2"/>
          </a:solidFill>
          <a:ln w="12700">
            <a:solidFill>
              <a:srgbClr val="4A90E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09  Challenges &amp; Solutions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115568"/>
            <a:ext cx="8503920" cy="8595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115568"/>
            <a:ext cx="4114800" cy="859536"/>
          </a:xfrm>
          <a:prstGeom prst="rect">
            <a:avLst/>
          </a:prstGeom>
          <a:solidFill>
            <a:srgbClr val="FEF2F2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115568"/>
            <a:ext cx="54864" cy="85953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61288"/>
            <a:ext cx="3749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4444"/>
                </a:solidFill>
              </a:rPr>
              <a:t>⚡ Challenge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435608"/>
            <a:ext cx="374904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Session persistence across LAN devices failed in early builds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407408" y="1115568"/>
            <a:ext cx="228600" cy="8595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4A3B8"/>
                </a:solidFill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617720" y="1115568"/>
            <a:ext cx="4206240" cy="859536"/>
          </a:xfrm>
          <a:prstGeom prst="rect">
            <a:avLst/>
          </a:prstGeom>
          <a:solidFill>
            <a:srgbClr val="ECFDF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17720" y="1115568"/>
            <a:ext cx="54864" cy="85953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1161288"/>
            <a:ext cx="3931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</a:rPr>
              <a:t>✓ Solution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754880" y="1435608"/>
            <a:ext cx="393192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Used credentials: 'include' in all fetch calls and explicit CORS origin reflection for private IPs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2084832"/>
            <a:ext cx="8503920" cy="8595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084832"/>
            <a:ext cx="4114800" cy="859536"/>
          </a:xfrm>
          <a:prstGeom prst="rect">
            <a:avLst/>
          </a:prstGeom>
          <a:solidFill>
            <a:srgbClr val="FEF2F2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" y="2084832"/>
            <a:ext cx="54864" cy="85953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130552"/>
            <a:ext cx="3749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4444"/>
                </a:solidFill>
              </a:rPr>
              <a:t>⚡ Challenge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2404872"/>
            <a:ext cx="374904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Chart.js instances stacked on re-render causing double charts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407408" y="2084832"/>
            <a:ext cx="228600" cy="8595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4A3B8"/>
                </a:solidFill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617720" y="2084832"/>
            <a:ext cx="4206240" cy="859536"/>
          </a:xfrm>
          <a:prstGeom prst="rect">
            <a:avLst/>
          </a:prstGeom>
          <a:solidFill>
            <a:srgbClr val="ECFDF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17720" y="2084832"/>
            <a:ext cx="54864" cy="85953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2130552"/>
            <a:ext cx="3931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</a:rPr>
              <a:t>✓ Solution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754880" y="2404872"/>
            <a:ext cx="393192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Maintained _chartInstances array; called .destroy() on each before creating new ones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" y="3054096"/>
            <a:ext cx="8503920" cy="8595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" y="3054096"/>
            <a:ext cx="4114800" cy="859536"/>
          </a:xfrm>
          <a:prstGeom prst="rect">
            <a:avLst/>
          </a:prstGeom>
          <a:solidFill>
            <a:srgbClr val="FEF2F2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" y="3054096"/>
            <a:ext cx="54864" cy="85953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3099816"/>
            <a:ext cx="3749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4444"/>
                </a:solidFill>
              </a:rPr>
              <a:t>⚡ Challenge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3374136"/>
            <a:ext cx="374904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PostgreSQL SSL config varied between localhost and Railway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407408" y="3054096"/>
            <a:ext cx="228600" cy="8595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4A3B8"/>
                </a:solidFill>
              </a:rPr>
              <a:t>→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617720" y="3054096"/>
            <a:ext cx="4206240" cy="859536"/>
          </a:xfrm>
          <a:prstGeom prst="rect">
            <a:avLst/>
          </a:prstGeom>
          <a:solidFill>
            <a:srgbClr val="ECFDF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17720" y="3054096"/>
            <a:ext cx="54864" cy="85953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0" y="3099816"/>
            <a:ext cx="3931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</a:rPr>
              <a:t>✓ Solution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754880" y="3374136"/>
            <a:ext cx="393192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Wrote resolveSsl() helper that detects localhost vs remote and reads PG_SSL env override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20040" y="4023360"/>
            <a:ext cx="8503920" cy="8595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20040" y="4023360"/>
            <a:ext cx="4114800" cy="859536"/>
          </a:xfrm>
          <a:prstGeom prst="rect">
            <a:avLst/>
          </a:prstGeom>
          <a:solidFill>
            <a:srgbClr val="FEF2F2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20040" y="4023360"/>
            <a:ext cx="54864" cy="85953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4069080"/>
            <a:ext cx="3749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4444"/>
                </a:solidFill>
              </a:rPr>
              <a:t>⚡ Challenge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57200" y="4343400"/>
            <a:ext cx="374904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Category foreign keys caused 23503 errors when category deleted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407408" y="4023360"/>
            <a:ext cx="228600" cy="8595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4A3B8"/>
                </a:solidFill>
              </a:rPr>
              <a:t>→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4617720" y="4023360"/>
            <a:ext cx="4206240" cy="859536"/>
          </a:xfrm>
          <a:prstGeom prst="rect">
            <a:avLst/>
          </a:prstGeom>
          <a:solidFill>
            <a:srgbClr val="ECFDF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617720" y="4023360"/>
            <a:ext cx="54864" cy="85953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54880" y="4069080"/>
            <a:ext cx="3931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</a:rPr>
              <a:t>✓ Solution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754880" y="4343400"/>
            <a:ext cx="393192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Used ON DELETE SET NULL for tasks.category_id; ON DELETE CASCADE for categories under users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5FA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457200"/>
            <a:ext cx="3657600" cy="3657600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3200400"/>
            <a:ext cx="2560320" cy="2560320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365760"/>
            <a:ext cx="73152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</a:rPr>
              <a:t>Conclusion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640080" y="1234440"/>
            <a:ext cx="3200400" cy="36576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417320"/>
            <a:ext cx="77724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</a:rPr>
              <a:t>✓  Full-stack web application successfully built with Node.js + PostgreSQL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892808"/>
            <a:ext cx="77724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</a:rPr>
              <a:t>✓  Complete authentication system with security best practices implemented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368296"/>
            <a:ext cx="77724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</a:rPr>
              <a:t>✓  Responsive UI with real-time statistics and Chart.js visualisations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843784"/>
            <a:ext cx="77724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</a:rPr>
              <a:t>✓  Deployed on Railway with environment-based configuration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3319272"/>
            <a:ext cx="77724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</a:rPr>
              <a:t>✓  Clean RESTful API with rate limiting and parameterised queries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3931920"/>
            <a:ext cx="7863840" cy="82296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3931920"/>
            <a:ext cx="758952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3C5FD"/>
                </a:solidFill>
              </a:rPr>
              <a:t>Future Enhancements:  Email notifications for due tasks  •  Drag-and-drop task ordering  •  Team collaboration / task sharing  •  Mobile app (React Native)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6670</Words>
  <Application>WPS Presentation</Application>
  <PresentationFormat>On-screen Show (16:9)</PresentationFormat>
  <Paragraphs>517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2" baseType="lpstr">
      <vt:lpstr>Arial</vt:lpstr>
      <vt:lpstr>SimSun</vt:lpstr>
      <vt:lpstr>Wingdings</vt:lpstr>
      <vt:lpstr>Consolas</vt:lpstr>
      <vt:lpstr>Consolas</vt:lpstr>
      <vt:lpstr>Consolas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Task Flow — Internal Viva Presentation</dc:title>
  <dc:creator>PptxGenJS</dc:creator>
  <dc:subject>PptxGenJS Presentation</dc:subject>
  <cp:lastModifiedBy>Farhan_khan</cp:lastModifiedBy>
  <cp:revision>2</cp:revision>
  <dcterms:created xsi:type="dcterms:W3CDTF">2026-05-07T06:39:00Z</dcterms:created>
  <dcterms:modified xsi:type="dcterms:W3CDTF">2026-05-07T06:50:20Z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1033-12.1.0.25242</vt:lpwstr>
  </property>
  <property fmtid="{D5CDD505-2E9C-101B-9397-08002B2CF9AE}" pid="3" name="ICV">
    <vt:lpwstr>F260C95C0C02481A838425341482E0C2_12</vt:lpwstr>
  </property>
</Properties>
</file>